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My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>
                <a:solidFill>
                  <a:srgbClr val="AED6F1"/>
                </a:solidFill>
              </a:rPr>
              <a:t>MVP — Système de recommandation d'articles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74320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Présentation à Samia (CEO) — support technique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Contexte &amp; objectif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My Content : start-up qui veut encourager la lecture par la recommandation de contenus.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Pas encore de données propriétaires → jeu de données public (interactions Globo.com).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Fonctionnalité MVP la plus critique 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« En tant qu'utilisateur, je reçois une sélection de 5 articles. »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Contrainte structurante : anticiper l'ajout de nouveaux utilisateurs et de nouveaux articles.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Exigence : solution serverless, industrialisable, déployable de bout en bout.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Description fonctionnelle de l'application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2377440" cy="13716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Utilisateur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(id)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3063240"/>
            <a:ext cx="5029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39" y="2560320"/>
            <a:ext cx="2377440" cy="13716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Application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(Streamlit)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59" y="3063240"/>
            <a:ext cx="5029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799" y="2560320"/>
            <a:ext cx="2377440" cy="13716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Service de reco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(Azure Function)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32519" y="3063240"/>
            <a:ext cx="50292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0" y="2560320"/>
            <a:ext cx="2377440" cy="13716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 articles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recommandés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L'app liste des identifiants utilisateurs et déclenche l'appel du service.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Le service serverless reçoit un user_id et renvoie le top-5 des articles.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Objectif : démontrer la fonctionnalité à Samia et à de futurs utilisateurs.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Les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</a:rPr>
              <a:t>Globo.com — interactions utilisateurs ↔ articles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Clics / sessions : user_id, session, article cliqué, horodatage.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Articles : catégorie, date de création, éditeur, nombre de mots.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Embeddings : vecteur de 250 dimensions par article (contenu).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Nature : feedback implicite (clics), pas de notes explicites.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Enjeux : forte creusité (users/articles peu actifs), volumétrie des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Approches de recommandation analysées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00400" cy="118872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Content-based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Similarité de contenu</a:t>
            </a:r>
          </a:p>
          <a:p>
            <a:r>
              <a:t>(embeddings d'articles)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118872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Collaborative</a:t>
            </a:r>
          </a:p>
          <a:p>
            <a:pPr algn="ctr"/>
            <a:r>
              <a:rPr sz="1700" b="1">
                <a:solidFill>
                  <a:srgbClr val="FFFFFF"/>
                </a:solidFill>
              </a:rPr>
              <a:t>filtering (ALS)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Goûts d'utilisateurs</a:t>
            </a:r>
          </a:p>
          <a:p>
            <a:r>
              <a:t>similaires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94560"/>
            <a:ext cx="3200400" cy="11887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Hybride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Combinaison des deux</a:t>
            </a:r>
          </a:p>
          <a:p>
            <a:r>
              <a:t>+ fallback popularité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Les trois stratégies sont exposées derrière un même service ; l'hybride est la stratégie par défaut.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Modèle 1 — Filtrage basé sur le contenu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Principe : profil utilisateur = moyenne des embeddings des articles lus, puis similarité cosinus vers tout le catalogue.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Fonctionne dès le 1ᵉʳ clic (peu de cold start utilisateur)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Intègre un nouvel article immédiatement (il a un embedding)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Explicable : « proche de ce que vous avez lu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3035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Inconvénients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N'exploite pas l'intelligence collective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Risque de « bulle » (peu de diversité/sérendipité)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Dépend de la qualité des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Modèle 2 — Filtrage collaboratif (ALS)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Principe : factorisation de la matrice utilisateur × article (feedback implicite) par ALS → facteurs latents.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Capte des goûts latents non visibles dans le contenu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Effet de découverte / sérendipité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Performant sur les utilisateurs actifs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3035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Inconvénients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Cold start fort (nouvel utilisateur ET nouvel article)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Ré-entraînement nécessaire (ALS non incrémental)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Sensible à la creusité des données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Modèle 3 — Hybride + cold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Principe : combinaison des scores content + collaboratif (normalisés) ; repli sur les articles populaires si historique insuffisant.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Combine les forces des deux approches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Dégradation propre : popularité en dernier recours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Couvre nouveaux utilisateurs et nouveaux 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3035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Inconvénients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Deux modèles à maintenir et à synchroniser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Pondération à régler (paramètre alpha)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Un peu plus de complexité opérationnelle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Comparaison des modèles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6170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Content-based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Collaboratif (ALS)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Hybride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Nouvel utilisateur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Bon (dès 1 clic)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Nouvel article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Bon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Sérendipité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Bonne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Bonne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Coût d'entraînement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Élevé (batch)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Moyen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Explicabilité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Élevée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Choix MVP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✔ retenu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Évaluation par leave-last-out (HitRate@5) dans le notebook pour départager sur nos données.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Système de recommandation retenu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Stratégie hybride par défaut, exposée via le service serverless.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Chaîne de décision pour un user_id 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1. Historique exploitable → score hybride (content + collaboratif)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2. Historique faible → content-based seul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3. Aucun historique → articles les plus populaires (cold start)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Inférence légère : ne dépend que de numpy (artefacts pré-calculés hors-ligne).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Renvoie le top-5 (paramétrable).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Optimisation production — réduction de dimension (ACP)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2743200"/>
            <a:ext cx="3291840" cy="146304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Embeddings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250 dimensions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63440" y="3291840"/>
            <a:ext cx="109728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743200"/>
            <a:ext cx="2743200" cy="146304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ACP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61120" y="3291840"/>
            <a:ext cx="1097280" cy="36576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2743200"/>
            <a:ext cx="1737360" cy="14630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~50 dim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Fichier d'embeddings volumineux vs limites du free tier Azure.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Réduction par ACP hors-ligne → artefact plus léger, latence réduite.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Compromis maîtrisé entre taille/temps et qualité des recommandations.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Architecture retenue — deux solutions indépendantes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</a:rPr>
              <a:t>Même cœur de reco et mêmes artefacts, deux déploiements autonomes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67E22"/>
                </a:solidFill>
              </a:rPr>
              <a:t>① Solution Azure — serverless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286000" cy="9144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Streamlit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194560"/>
            <a:ext cx="82296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74519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user_id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874519"/>
            <a:ext cx="274320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Azure Function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(numpy)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2194560"/>
            <a:ext cx="82296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1874519"/>
            <a:ext cx="2743200" cy="9144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Azure Blob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(modèles)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E86C1"/>
                </a:solidFill>
              </a:rPr>
              <a:t>② Solution Hugging Face — démo publique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3383280" cy="9144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HF Space (Streamlit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+ Recommender)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3749039"/>
            <a:ext cx="82296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4290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429000"/>
            <a:ext cx="2743200" cy="9144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HF Hub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(modèles)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029200"/>
            <a:ext cx="9418320" cy="914400"/>
          </a:xfrm>
          <a:prstGeom prst="roundRect">
            <a:avLst/>
          </a:prstGeom>
          <a:solidFill>
            <a:srgbClr val="7F8C8D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Pipeline hors-ligne COMMUN (prepare_model.py) : données brutes → ACP + ALS → artefacts publiés vers Blob ET HF 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Pourquoi l'Architecture 2 pour le MVP 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Archi 1 — API dédiée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Archi 2 — Blob (retenue)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Pièces mobiles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API +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Function seule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Coût (free tier)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Plus élevé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Quasi nul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Mise en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Plus longue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Séparation des responsabilités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Meilleure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Suffisante (MVP)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Montée en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Meilleure (cible)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Limitée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MVP : simplicité et coût priment → Archi 2. L'Archi 1 est visée pour l'architecture cible.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Démonstration — les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7223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Interface Streamlit : sélection d'un identifiant utilisateur → 5 articles.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Deux vitrines, selon la solution 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Azure : app locale qui appelle le service serverless (Azure Function).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Hugging Face : Space public auto-suffisant (reco calculée sur place).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Paramétrable : stratégie de reco, nombre d'articles.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2011680"/>
            <a:ext cx="3474720" cy="3291840"/>
          </a:xfrm>
          <a:prstGeom prst="rect">
            <a:avLst/>
          </a:prstGeom>
          <a:solidFill>
            <a:srgbClr val="F4F6F7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8C8D"/>
                </a:solidFill>
              </a:rPr>
              <a:t>[ Capture d'écran</a:t>
            </a:r>
          </a:p>
          <a:p>
            <a:pPr algn="ctr"/>
            <a:r>
              <a:rPr sz="1400" b="1">
                <a:solidFill>
                  <a:srgbClr val="7F8C8D"/>
                </a:solidFill>
              </a:rPr>
              <a:t>du Space HF</a:t>
            </a:r>
          </a:p>
          <a:p>
            <a:pPr algn="ctr"/>
            <a:r>
              <a:rPr sz="1400" b="1">
                <a:solidFill>
                  <a:srgbClr val="7F8C8D"/>
                </a:solidFill>
              </a:rPr>
              <a:t>à insérer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Industrialisation &amp; déploiement bout-en-bout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Code versionné : Git local + push GitHub.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Séparation claire : préparation hors-ligne / service d'inférence / application.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Déploiement reproductible, deux cibles depuis les mêmes artefacts 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prepare_model.py → artefacts (source commune)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Azure : func azure functionapp publish (+ artefacts vers Blob)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7F8C8D"/>
                </a:solidFill>
              </a:rPr>
              <a:t>– Hugging Face : push du Space + upload_artifacts.py vers le HF Hub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Support de présentation lui-même généré par script (reproductible).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Architecture cible — nouveaux utilisateurs &amp; articles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</a:rPr>
              <a:t>Intégration en continu, sans tout recalculer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11680" cy="9144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Clics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(temps réel)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240280"/>
            <a:ext cx="64008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920240"/>
            <a:ext cx="219456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Event Hub /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Function ingestion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40680" y="2240280"/>
            <a:ext cx="64008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2194560" cy="9144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Cosmos DB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(profils users)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3017520" cy="91440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Nouvel article →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embedding + ACP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383280"/>
            <a:ext cx="329184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Ré-entraînement ALS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planifié (Azure ML / timer)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651760"/>
            <a:ext cx="3017520" cy="9144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Catalogue + modèles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(Blob, versionnés)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3749039"/>
            <a:ext cx="13716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474720" y="3749039"/>
            <a:ext cx="36576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3931920"/>
            <a:ext cx="3017520" cy="9144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 de reco dédiée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(Architecture 1)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966960" y="3611880"/>
            <a:ext cx="365760" cy="32004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5394960"/>
            <a:ext cx="3017520" cy="82296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Applications clientes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8869680" y="4892040"/>
            <a:ext cx="1097280" cy="365760"/>
          </a:xfrm>
          <a:prstGeom prst="lef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</a:rPr>
              <a:t>Suivi : Application Insights + métriques métier (CTR)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Cible — comment sont gérés les nouveaux venus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Nouvel article 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7F8C8D"/>
                </a:solidFill>
              </a:rPr>
              <a:t>– calcul de son embedding (+ ACP) → disponible immédiatement via le content-based, sans ré-entraînement.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Nouvel utilisateur 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7F8C8D"/>
                </a:solidFill>
              </a:rPr>
              <a:t>– popularité au tout début, puis content-based dès le 1ᵉʳ clic ; profil enrichi en continu via l'ingestion.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Modèle collaboratif 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7F8C8D"/>
                </a:solidFill>
              </a:rPr>
              <a:t>– ré-entraînement planifié (batch) ; entre deux, repli propre sur content-based / popularité.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Montée en charge 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7F8C8D"/>
                </a:solidFill>
              </a:rPr>
              <a:t>– passage à l'API dédiée (Archi 1) : mise à l'échelle, cache, A/B testing, versionnage des modèles.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Limites connues &amp; prochaines étapes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Évaluation à approfondir : MAP@k, couverture, diversité (au-delà du HitRate@5).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Prise en compte de la fraîcheur / récence des articles.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Sécurité : clé de fonction (MVP) → authentification robuste à terme.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Passage progressif à l'ingestion événementielle et au ré-entraînement automatisé.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</a:rPr>
              <a:t>• Collecte de nos propres données d'usage pour affiner les modèles.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MVP fonctionnel, serverless et industrialisable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AED6F1"/>
                </a:solidFill>
              </a:rPr>
              <a:t>Prêt à démontrer les 5 recommandations et à évoluer vers l'architecture 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